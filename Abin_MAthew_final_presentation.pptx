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7" r:id="rId14"/>
    <p:sldId id="288" r:id="rId15"/>
    <p:sldId id="289" r:id="rId16"/>
    <p:sldId id="290" r:id="rId17"/>
    <p:sldId id="291" r:id="rId18"/>
    <p:sldId id="292" r:id="rId19"/>
    <p:sldId id="269" r:id="rId20"/>
    <p:sldId id="270" r:id="rId21"/>
    <p:sldId id="271" r:id="rId22"/>
    <p:sldId id="272" r:id="rId23"/>
    <p:sldId id="293" r:id="rId24"/>
    <p:sldId id="294" r:id="rId25"/>
    <p:sldId id="295" r:id="rId26"/>
    <p:sldId id="296" r:id="rId27"/>
    <p:sldId id="297" r:id="rId28"/>
    <p:sldId id="298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73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0160">
            <a:solidFill>
              <a:srgbClr val="C7D2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3796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DIGITAL GRAMA PANCHAYAT SERVICES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pic>
        <p:nvPicPr>
          <p:cNvPr id="5" name="Image 1" descr="/mnt/data/report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9397"/>
            <a:ext cx="1097280" cy="682534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40080" y="1298448"/>
            <a:ext cx="2971800" cy="329184"/>
          </a:xfrm>
          <a:prstGeom prst="roundRect">
            <a:avLst>
              <a:gd name="adj" fmla="val 22222"/>
            </a:avLst>
          </a:prstGeom>
          <a:solidFill>
            <a:srgbClr val="E8F6F2"/>
          </a:solidFill>
          <a:ln w="12700">
            <a:solidFill>
              <a:srgbClr val="139A7E">
                <a:alpha val="75000"/>
              </a:srgbClr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13232" y="134416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39A7E"/>
                </a:solidFill>
              </a:rPr>
              <a:t>MCA MINI PROJECT • FINAL PRESENTATION</a:t>
            </a:r>
            <a:endParaRPr lang="en-US" sz="1030" dirty="0"/>
          </a:p>
        </p:txBody>
      </p:sp>
      <p:sp>
        <p:nvSpPr>
          <p:cNvPr id="9" name="Text 4"/>
          <p:cNvSpPr/>
          <p:nvPr/>
        </p:nvSpPr>
        <p:spPr>
          <a:xfrm>
            <a:off x="640080" y="17830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DIGITAL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GRAMA PANCHAYAT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SERVICES</a:t>
            </a:r>
            <a:endParaRPr lang="en-US" sz="3200" dirty="0"/>
          </a:p>
        </p:txBody>
      </p:sp>
      <p:sp>
        <p:nvSpPr>
          <p:cNvPr id="10" name="Text 5"/>
          <p:cNvSpPr/>
          <p:nvPr/>
        </p:nvSpPr>
        <p:spPr>
          <a:xfrm>
            <a:off x="658368" y="365760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17180"/>
                </a:solidFill>
              </a:rPr>
              <a:t>A role-based e-Governance portal for certificates, complaints, waste collection, alerts and verified digital services.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658368" y="4526280"/>
            <a:ext cx="621792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736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12B"/>
                </a:solidFill>
              </a:rPr>
              <a:t>ABIN MATHEW  |  MLM25MCA-2005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658368" y="51389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180"/>
                </a:solidFill>
              </a:rPr>
              <a:t>Department of Computer Applications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17180"/>
                </a:solidFill>
              </a:rPr>
              <a:t>Mangalam College of Engineering, Ettumanoor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17180"/>
                </a:solidFill>
              </a:rPr>
              <a:t>Academic Year 2025–27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58968" y="5283615"/>
            <a:ext cx="1811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E2A47"/>
                </a:solidFill>
              </a:rPr>
              <a:t>Ms. Anjaly Sajeev</a:t>
            </a:r>
          </a:p>
          <a:p>
            <a:pPr marL="0" indent="0" algn="r">
              <a:buNone/>
            </a:pPr>
            <a:r>
              <a:rPr lang="en-US" sz="1250" b="1" dirty="0">
                <a:solidFill>
                  <a:srgbClr val="0E2A47"/>
                </a:solidFill>
              </a:rPr>
              <a:t>(Assistant professor)</a:t>
            </a:r>
          </a:p>
        </p:txBody>
      </p:sp>
      <p:sp>
        <p:nvSpPr>
          <p:cNvPr id="15" name="Text 10"/>
          <p:cNvSpPr/>
          <p:nvPr/>
        </p:nvSpPr>
        <p:spPr>
          <a:xfrm>
            <a:off x="4937760" y="638251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30" dirty="0">
                <a:solidFill>
                  <a:srgbClr val="617180"/>
                </a:solidFill>
              </a:rPr>
              <a:t>APJ Abdul Kalam Technological University</a:t>
            </a:r>
            <a:endParaRPr lang="en-US" sz="103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7058F8AB-0363-AD34-CFDB-F8FFF0C08DA4}"/>
              </a:ext>
            </a:extLst>
          </p:cNvPr>
          <p:cNvSpPr/>
          <p:nvPr/>
        </p:nvSpPr>
        <p:spPr>
          <a:xfrm>
            <a:off x="5120640" y="498509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E2A47"/>
                </a:solidFill>
              </a:rPr>
              <a:t>Guide: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Why a unified digital Panchayat platform is needed</a:t>
            </a:r>
            <a:endParaRPr lang="en-US" sz="1050" dirty="0"/>
          </a:p>
        </p:txBody>
      </p:sp>
      <p:pic>
        <p:nvPicPr>
          <p:cNvPr id="5" name="Image 0" descr="/mnt/data/report_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402336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1408176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1325880"/>
            <a:ext cx="6492240" cy="7475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12B"/>
                </a:solidFill>
              </a:rPr>
              <a:t>Gram Panchayat services often depend on office visits, paper forms and manual follow-up.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754880" y="2173986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0" y="2091690"/>
            <a:ext cx="6492240" cy="7475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12B"/>
                </a:solidFill>
              </a:rPr>
              <a:t>Citizens need a single place to submit requests, track status and receive official updates.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754880" y="2939796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2857500"/>
            <a:ext cx="6492240" cy="7475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12B"/>
                </a:solidFill>
              </a:rPr>
              <a:t>Officials need structured workflows, audit history, reporting and role-based access.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754880" y="3705606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3623310"/>
            <a:ext cx="6492240" cy="7475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8212B"/>
                </a:solidFill>
              </a:rPr>
              <a:t>The project combines routine services and emergency communication in one Django portal.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754880" y="4709160"/>
            <a:ext cx="32004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4709160"/>
            <a:ext cx="73152" cy="98755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485546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Core idea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37760" y="5184648"/>
            <a:ext cx="29077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One request → one traceable lifecycle → one accountable digital record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8183880" y="4709160"/>
            <a:ext cx="32004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183880" y="4709160"/>
            <a:ext cx="73152" cy="987552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66760" y="485546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Citizen focus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66760" y="5184648"/>
            <a:ext cx="29077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Accessible service delivery with English ⇄ Malayalam switching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Project overview, technology and achieved outcome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252728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170432"/>
            <a:ext cx="717804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8212B"/>
                </a:solidFill>
              </a:rPr>
              <a:t>Web-based e-Governance platform for certificates, complaints, waste pickup, announcements, reports and safety alerts.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713232" y="2103120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20824"/>
            <a:ext cx="717804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8212B"/>
                </a:solidFill>
              </a:rPr>
              <a:t>Citizens, Panchayat officials and waste collectors receive separate role-based workspaces and permissions.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713232" y="2953512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871216"/>
            <a:ext cx="717804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8212B"/>
                </a:solidFill>
              </a:rPr>
              <a:t>Approved certificates generate fixed PDFs with QR-linked verification and SHA-256 fingerprint checking.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713232" y="3803904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721608"/>
            <a:ext cx="717804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8212B"/>
                </a:solidFill>
              </a:rPr>
              <a:t>English / Malayalam translation switching is available for citizen and collector interfaces with saved preference.</a:t>
            </a:r>
            <a:endParaRPr lang="en-US" sz="1530" dirty="0"/>
          </a:p>
        </p:txBody>
      </p:sp>
      <p:sp>
        <p:nvSpPr>
          <p:cNvPr id="13" name="Shape 11"/>
          <p:cNvSpPr/>
          <p:nvPr/>
        </p:nvSpPr>
        <p:spPr>
          <a:xfrm>
            <a:off x="713232" y="4654296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572000"/>
            <a:ext cx="717804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8212B"/>
                </a:solidFill>
              </a:rPr>
              <a:t>Built using Python, Django 5.2, HTML/CSS/JavaScript, SQLite/MySQL configuration, ReportLab and QRCode/Pillow.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8412480" y="1325880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AD4DF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77072" y="1490472"/>
            <a:ext cx="384048" cy="384048"/>
          </a:xfrm>
          <a:prstGeom prst="ellipse">
            <a:avLst/>
          </a:prstGeom>
          <a:solidFill>
            <a:srgbClr val="1FA97A">
              <a:alpha val="90000"/>
            </a:srgbClr>
          </a:solidFill>
          <a:ln w="12700">
            <a:solidFill>
              <a:srgbClr val="1FA9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4356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</a:rPr>
              <a:t>79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8577072" y="2020824"/>
            <a:ext cx="2505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Automated tests passed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12480" y="2697480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AD4DF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77072" y="2862072"/>
            <a:ext cx="384048" cy="384048"/>
          </a:xfrm>
          <a:prstGeom prst="ellipse">
            <a:avLst/>
          </a:prstGeom>
          <a:solidFill>
            <a:srgbClr val="2F6FED">
              <a:alpha val="90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8072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</a:rPr>
              <a:t>3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8577072" y="3392424"/>
            <a:ext cx="2505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Primary operational roles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0" y="4069080"/>
            <a:ext cx="28346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AD4DF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77072" y="4233672"/>
            <a:ext cx="384048" cy="384048"/>
          </a:xfrm>
          <a:prstGeom prst="ellipse">
            <a:avLst/>
          </a:prstGeom>
          <a:solidFill>
            <a:srgbClr val="6C63FF">
              <a:alpha val="90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41788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</a:rPr>
              <a:t>5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8577072" y="4764024"/>
            <a:ext cx="250545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Certificate categories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5532120"/>
            <a:ext cx="3611880" cy="329184"/>
          </a:xfrm>
          <a:prstGeom prst="roundRect">
            <a:avLst>
              <a:gd name="adj" fmla="val 22222"/>
            </a:avLst>
          </a:prstGeom>
          <a:solidFill>
            <a:srgbClr val="FFF1F1"/>
          </a:solidFill>
          <a:ln w="12700">
            <a:solidFill>
              <a:srgbClr val="D95C5C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5577840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D95C5C"/>
                </a:solidFill>
              </a:rPr>
              <a:t>Academic demonstration — not an official government service</a:t>
            </a:r>
            <a:endParaRPr lang="en-US" sz="10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One clear problem statement and its practical effects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744200" cy="1051560"/>
          </a:xfrm>
          <a:prstGeom prst="roundRect">
            <a:avLst>
              <a:gd name="adj" fmla="val 5217"/>
            </a:avLst>
          </a:prstGeom>
          <a:solidFill>
            <a:srgbClr val="EAF1FB"/>
          </a:solidFill>
          <a:ln w="12700">
            <a:solidFill>
              <a:srgbClr val="BAD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27048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47"/>
                </a:solidFill>
              </a:rPr>
              <a:t>Manual and disconnected Panchayat service processes make applications difficult to track, slow to verify and hard to manage consistently across citizens, officials and field staff.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697480"/>
            <a:ext cx="73152" cy="1234440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84378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Repeated office visits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491947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Citizens depend on physical follow-up for progress and decisions.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697480"/>
            <a:ext cx="73152" cy="1234440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84378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Fragmented records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3172968"/>
            <a:ext cx="491947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Applications, documents and status history may be stored separately.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206240"/>
            <a:ext cx="73152" cy="12344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35254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Weak verification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681728"/>
            <a:ext cx="491947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Printed certificates are harder to verify without an online validity check.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4206240"/>
            <a:ext cx="73152" cy="123444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35254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Limited coordination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4681728"/>
            <a:ext cx="491947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Complaints, waste pickup and alerts need role-specific workflows and reporting.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What the system is designed to achieve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73152" cy="166420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72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Digitize services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31363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Submit and track certificates, complaints and waste requests online.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1664208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72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Role-based access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1801368"/>
            <a:ext cx="31363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Separate citizen, official and collector responsibilities securely.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325880"/>
            <a:ext cx="73152" cy="16642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472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Trace every request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1801368"/>
            <a:ext cx="31363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Maintain references, status history, notes and notifications.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383280"/>
            <a:ext cx="73152" cy="1664208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5295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Verify certificates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858768"/>
            <a:ext cx="31363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Use QR-linked validity checks and exact PDF fingerprint comparison.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434840" y="3383280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83280"/>
            <a:ext cx="73152" cy="1664208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35295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Improve communication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3858768"/>
            <a:ext cx="31363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Provide notice board, alerts, reports and optional SMS outbox.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138160" y="3383280"/>
            <a:ext cx="342900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3383280"/>
            <a:ext cx="73152" cy="166420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5295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Support local language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0" y="3858768"/>
            <a:ext cx="3136392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Enable English ⇄ Malayalam switching for citizen-facing workflows.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2880360" y="5669280"/>
            <a:ext cx="6400800" cy="329184"/>
          </a:xfrm>
          <a:prstGeom prst="roundRect">
            <a:avLst>
              <a:gd name="adj" fmla="val 22222"/>
            </a:avLst>
          </a:prstGeom>
          <a:solidFill>
            <a:srgbClr val="E8F6F2"/>
          </a:solidFill>
          <a:ln w="12700">
            <a:solidFill>
              <a:srgbClr val="139A7E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53512" y="57150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39A7E"/>
                </a:solidFill>
              </a:rPr>
              <a:t>Expected outcome: faster visibility, better traceability, simpler citizen access</a:t>
            </a:r>
            <a:endParaRPr lang="en-US" sz="103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Existing System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Typical manual / semi-manual Panchayat workflow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502920" cy="50292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B7C3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27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" y="2039112"/>
            <a:ext cx="1325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8212B"/>
                </a:solidFill>
              </a:rPr>
              <a:t>Visit office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1298448" y="1527048"/>
            <a:ext cx="320040" cy="228600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2888" y="1417320"/>
            <a:ext cx="502920" cy="50292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B7C3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527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7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21408" y="2039112"/>
            <a:ext cx="1325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8212B"/>
                </a:solidFill>
              </a:rPr>
              <a:t>Collect / fill form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3172968" y="1527048"/>
            <a:ext cx="320040" cy="228600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1417320"/>
            <a:ext cx="502920" cy="50292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B7C3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1527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7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95928" y="2039112"/>
            <a:ext cx="1325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8212B"/>
                </a:solidFill>
              </a:rPr>
              <a:t>Attach documents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5047488" y="1527048"/>
            <a:ext cx="320040" cy="228600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81928" y="1417320"/>
            <a:ext cx="502920" cy="50292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B7C3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527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7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70448" y="2039112"/>
            <a:ext cx="1325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8212B"/>
                </a:solidFill>
              </a:rPr>
              <a:t>Manual verification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6922008" y="1527048"/>
            <a:ext cx="320040" cy="228600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1417320"/>
            <a:ext cx="502920" cy="50292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B7C3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6448" y="1527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7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44968" y="2039112"/>
            <a:ext cx="1325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8212B"/>
                </a:solidFill>
              </a:rPr>
              <a:t>Return for status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8796528" y="1527048"/>
            <a:ext cx="320040" cy="228600"/>
          </a:xfrm>
          <a:prstGeom prst="chevron">
            <a:avLst/>
          </a:prstGeom>
          <a:solidFill>
            <a:srgbClr val="CAD5E1"/>
          </a:solidFill>
          <a:ln w="12700">
            <a:solidFill>
              <a:srgbClr val="CA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30968" y="1417320"/>
            <a:ext cx="502920" cy="502920"/>
          </a:xfrm>
          <a:prstGeom prst="ellipse">
            <a:avLst/>
          </a:prstGeom>
          <a:solidFill>
            <a:srgbClr val="E9EEF5"/>
          </a:solidFill>
          <a:ln w="12700">
            <a:solidFill>
              <a:srgbClr val="B7C3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30968" y="15270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2A47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19488" y="2039112"/>
            <a:ext cx="1325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8212B"/>
                </a:solidFill>
              </a:rPr>
              <a:t>Receive output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777240" y="2971800"/>
            <a:ext cx="10561320" cy="2331720"/>
          </a:xfrm>
          <a:prstGeom prst="roundRect">
            <a:avLst>
              <a:gd name="adj" fmla="val 1961"/>
            </a:avLst>
          </a:prstGeom>
          <a:solidFill>
            <a:srgbClr val="FFF8EF"/>
          </a:solidFill>
          <a:ln w="12700">
            <a:solidFill>
              <a:srgbClr val="F2D7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A5B00"/>
                </a:solidFill>
              </a:rPr>
              <a:t>Main limitations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1005840" y="3739896"/>
            <a:ext cx="100584" cy="100584"/>
          </a:xfrm>
          <a:prstGeom prst="ellipse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657600"/>
            <a:ext cx="9509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8212B"/>
                </a:solidFill>
              </a:rPr>
              <a:t>Repeated data entry and risk of misplaced physical files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1005840" y="4005072"/>
            <a:ext cx="100584" cy="100584"/>
          </a:xfrm>
          <a:prstGeom prst="ellipse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3922776"/>
            <a:ext cx="9509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8212B"/>
                </a:solidFill>
              </a:rPr>
              <a:t>No real-time request status or consolidated history for citizens</a:t>
            </a:r>
            <a:endParaRPr lang="en-US" sz="1340" dirty="0"/>
          </a:p>
        </p:txBody>
      </p:sp>
      <p:sp>
        <p:nvSpPr>
          <p:cNvPr id="34" name="Shape 32"/>
          <p:cNvSpPr/>
          <p:nvPr/>
        </p:nvSpPr>
        <p:spPr>
          <a:xfrm>
            <a:off x="1005840" y="4270248"/>
            <a:ext cx="100584" cy="100584"/>
          </a:xfrm>
          <a:prstGeom prst="ellipse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4187952"/>
            <a:ext cx="9509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8212B"/>
                </a:solidFill>
              </a:rPr>
              <a:t>Manual counting and reporting for officials</a:t>
            </a:r>
            <a:endParaRPr lang="en-US" sz="1340" dirty="0"/>
          </a:p>
        </p:txBody>
      </p:sp>
      <p:sp>
        <p:nvSpPr>
          <p:cNvPr id="36" name="Shape 34"/>
          <p:cNvSpPr/>
          <p:nvPr/>
        </p:nvSpPr>
        <p:spPr>
          <a:xfrm>
            <a:off x="1005840" y="4535424"/>
            <a:ext cx="100584" cy="100584"/>
          </a:xfrm>
          <a:prstGeom prst="ellipse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453128"/>
            <a:ext cx="9509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8212B"/>
                </a:solidFill>
              </a:rPr>
              <a:t>Limited coordination between office staff and waste collection staff</a:t>
            </a:r>
            <a:endParaRPr lang="en-US" sz="1340" dirty="0"/>
          </a:p>
        </p:txBody>
      </p:sp>
      <p:sp>
        <p:nvSpPr>
          <p:cNvPr id="38" name="Shape 36"/>
          <p:cNvSpPr/>
          <p:nvPr/>
        </p:nvSpPr>
        <p:spPr>
          <a:xfrm>
            <a:off x="1005840" y="4800600"/>
            <a:ext cx="100584" cy="100584"/>
          </a:xfrm>
          <a:prstGeom prst="ellipse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4718304"/>
            <a:ext cx="95097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18212B"/>
                </a:solidFill>
              </a:rPr>
              <a:t>Certificate authenticity may require direct office confirmation</a:t>
            </a:r>
            <a:endParaRPr lang="en-US" sz="134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System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A unified Smart Digital Grama Panchayat service portal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897880" y="1261872"/>
            <a:ext cx="5440680" cy="4315968"/>
          </a:xfrm>
          <a:prstGeom prst="roundRect">
            <a:avLst>
              <a:gd name="adj" fmla="val 1059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655064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572768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8212B"/>
                </a:solidFill>
              </a:rPr>
              <a:t>Online registration, login and personalized dashboards</a:t>
            </a:r>
            <a:endParaRPr lang="en-US" sz="1360" dirty="0"/>
          </a:p>
        </p:txBody>
      </p:sp>
      <p:sp>
        <p:nvSpPr>
          <p:cNvPr id="9" name="Shape 6"/>
          <p:cNvSpPr/>
          <p:nvPr/>
        </p:nvSpPr>
        <p:spPr>
          <a:xfrm>
            <a:off x="6172200" y="2157984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075688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8212B"/>
                </a:solidFill>
              </a:rPr>
              <a:t>Certificate applications with private supporting documents</a:t>
            </a:r>
            <a:endParaRPr lang="en-US" sz="1360" dirty="0"/>
          </a:p>
        </p:txBody>
      </p:sp>
      <p:sp>
        <p:nvSpPr>
          <p:cNvPr id="11" name="Shape 8"/>
          <p:cNvSpPr/>
          <p:nvPr/>
        </p:nvSpPr>
        <p:spPr>
          <a:xfrm>
            <a:off x="6172200" y="2660904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578608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8212B"/>
                </a:solidFill>
              </a:rPr>
              <a:t>Complaint tracking with status updates and resolution notes</a:t>
            </a:r>
            <a:endParaRPr lang="en-US" sz="1360" dirty="0"/>
          </a:p>
        </p:txBody>
      </p:sp>
      <p:sp>
        <p:nvSpPr>
          <p:cNvPr id="13" name="Shape 10"/>
          <p:cNvSpPr/>
          <p:nvPr/>
        </p:nvSpPr>
        <p:spPr>
          <a:xfrm>
            <a:off x="6172200" y="3163824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3081528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8212B"/>
                </a:solidFill>
              </a:rPr>
              <a:t>Waste requests with scheduling, collector assignment and completion</a:t>
            </a:r>
            <a:endParaRPr lang="en-US" sz="1360" dirty="0"/>
          </a:p>
        </p:txBody>
      </p:sp>
      <p:sp>
        <p:nvSpPr>
          <p:cNvPr id="15" name="Shape 12"/>
          <p:cNvSpPr/>
          <p:nvPr/>
        </p:nvSpPr>
        <p:spPr>
          <a:xfrm>
            <a:off x="6172200" y="3666744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584448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8212B"/>
                </a:solidFill>
              </a:rPr>
              <a:t>QR verification, PDF fingerprint checking and revocation awareness</a:t>
            </a:r>
            <a:endParaRPr lang="en-US" sz="1360" dirty="0"/>
          </a:p>
        </p:txBody>
      </p:sp>
      <p:sp>
        <p:nvSpPr>
          <p:cNvPr id="17" name="Shape 14"/>
          <p:cNvSpPr/>
          <p:nvPr/>
        </p:nvSpPr>
        <p:spPr>
          <a:xfrm>
            <a:off x="6172200" y="4169664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4087368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8212B"/>
                </a:solidFill>
              </a:rPr>
              <a:t>Digital notice board, reports, notifications and safety alerts</a:t>
            </a:r>
            <a:endParaRPr lang="en-US" sz="1360" dirty="0"/>
          </a:p>
        </p:txBody>
      </p:sp>
      <p:sp>
        <p:nvSpPr>
          <p:cNvPr id="19" name="Shape 16"/>
          <p:cNvSpPr/>
          <p:nvPr/>
        </p:nvSpPr>
        <p:spPr>
          <a:xfrm>
            <a:off x="6172200" y="4672584"/>
            <a:ext cx="100584" cy="100584"/>
          </a:xfrm>
          <a:prstGeom prst="ellipse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590288"/>
            <a:ext cx="45720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8212B"/>
                </a:solidFill>
              </a:rPr>
              <a:t>English ⇄ Malayalam translation switch for citizen / collector pages</a:t>
            </a:r>
            <a:endParaRPr lang="en-US" sz="1360" dirty="0"/>
          </a:p>
        </p:txBody>
      </p:sp>
      <p:sp>
        <p:nvSpPr>
          <p:cNvPr id="21" name="Shape 18"/>
          <p:cNvSpPr/>
          <p:nvPr/>
        </p:nvSpPr>
        <p:spPr>
          <a:xfrm>
            <a:off x="6995160" y="5010912"/>
            <a:ext cx="3611880" cy="329184"/>
          </a:xfrm>
          <a:prstGeom prst="roundRect">
            <a:avLst>
              <a:gd name="adj" fmla="val 22222"/>
            </a:avLst>
          </a:prstGeom>
          <a:solidFill>
            <a:srgbClr val="EEF3FF"/>
          </a:solidFill>
          <a:ln w="12700">
            <a:solidFill>
              <a:srgbClr val="2F6FED">
                <a:alpha val="7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68312" y="5056632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F6FED"/>
                </a:solidFill>
              </a:rPr>
              <a:t>Django MVT + centralized workflow services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of the Project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Users, functions, boundaries and possible applications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80744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Target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709928"/>
            <a:ext cx="304495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Citizens • Panchayat officials • Waste collectors • Superuser / administrator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07408" y="123444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234440"/>
            <a:ext cx="73152" cy="182880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380744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Functional coverage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709928"/>
            <a:ext cx="304495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Certificates • complaints • waste pickup • notice board • reports • safety alerts • QR verification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83296" y="123444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83296" y="1234440"/>
            <a:ext cx="73152" cy="18288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1380744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Included technology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66176" y="1709928"/>
            <a:ext cx="304495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Django authentication • relational database • PDF/QR generation • CSV export • localization • SMS outbox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31520" y="3456432"/>
            <a:ext cx="5257800" cy="1572768"/>
          </a:xfrm>
          <a:prstGeom prst="roundRect">
            <a:avLst>
              <a:gd name="adj" fmla="val 3488"/>
            </a:avLst>
          </a:prstGeom>
          <a:solidFill>
            <a:srgbClr val="FFF9F9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456432"/>
            <a:ext cx="73152" cy="1572768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0273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Current boundaries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931920"/>
            <a:ext cx="4965192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No official government registry, payment gateway, legal digital signature, production encryption-at-rest or guaranteed SMS delivery.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172200" y="3456432"/>
            <a:ext cx="5257800" cy="1572768"/>
          </a:xfrm>
          <a:prstGeom prst="roundRect">
            <a:avLst>
              <a:gd name="adj" fmla="val 3488"/>
            </a:avLst>
          </a:prstGeom>
          <a:solidFill>
            <a:srgbClr val="F7FFFB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3456432"/>
            <a:ext cx="73152" cy="1572768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602736"/>
            <a:ext cx="4965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Application potential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55080" y="3931920"/>
            <a:ext cx="4965192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Can be adapted for village offices, campus administration, community service portals and other local-body workflows.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2971800" y="5532120"/>
            <a:ext cx="6263640" cy="329184"/>
          </a:xfrm>
          <a:prstGeom prst="roundRect">
            <a:avLst>
              <a:gd name="adj" fmla="val 22222"/>
            </a:avLst>
          </a:prstGeom>
          <a:solidFill>
            <a:srgbClr val="EFF3F8"/>
          </a:solidFill>
          <a:ln w="12700">
            <a:solidFill>
              <a:srgbClr val="0E2A47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5577840"/>
            <a:ext cx="6117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E2A47"/>
                </a:solidFill>
              </a:rPr>
              <a:t>Academic prototype with a clear path to real deployment hardening</a:t>
            </a:r>
            <a:endParaRPr lang="en-US" sz="103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Literature Review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Selected studies most relevant to the implemented system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968583"/>
              </p:ext>
            </p:extLst>
          </p:nvPr>
        </p:nvGraphicFramePr>
        <p:xfrm>
          <a:off x="522514" y="1143000"/>
          <a:ext cx="11181806" cy="4709160"/>
        </p:xfrm>
        <a:graphic>
          <a:graphicData uri="http://schemas.openxmlformats.org/drawingml/2006/table">
            <a:tbl>
              <a:tblPr/>
              <a:tblGrid>
                <a:gridCol w="1973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Title &amp; Year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 / Publication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 / Algorithm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 / Methodology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Finding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Smart Governance in Rural India (2025)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R. Dhamale, V. Patil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React + Spring Boot + MySQL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Integrated Panchayat e-services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Qualitative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Supports centralized, traceable digital service delivery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E-Gram Panchayats (2023)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M. Thorat et al.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Web / mobile + data mgmt.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Accessibility &amp; transparency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Qualitative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Shows value of centralized rural administration records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E-Governance Adoption in Rural Areas (2022)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S. N. Fatmi, M. Swalehin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Empirical assessment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literacy &amp; adoption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Adoption factors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Motivates simple UI and multilingual support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ICT Reforms in Kerala Panchayats (2015)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A. K. Thottunkel, S. V. Kuppathanath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Process-based workflow study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Decision-making automation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Case study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Digitization should redesign workflow—not just copy paper forms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Certificate Security with QR (2021)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conference paper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signature + QR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Certificate authenticity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Verification integrity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QR improves verification; digital signatures provide stronger assurance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143000"/>
            <a:ext cx="11201400" cy="502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" y="1261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Title &amp; Year</a:t>
            </a:r>
            <a:endParaRPr lang="en-US" sz="940" dirty="0"/>
          </a:p>
        </p:txBody>
      </p:sp>
      <p:sp>
        <p:nvSpPr>
          <p:cNvPr id="8" name="Text 5"/>
          <p:cNvSpPr/>
          <p:nvPr/>
        </p:nvSpPr>
        <p:spPr>
          <a:xfrm>
            <a:off x="2532888" y="126187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Author / Publication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4178808" y="1261872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Method / Algorithm</a:t>
            </a:r>
            <a:endParaRPr lang="en-US" sz="940" dirty="0"/>
          </a:p>
        </p:txBody>
      </p:sp>
      <p:sp>
        <p:nvSpPr>
          <p:cNvPr id="5" name="Text 7"/>
          <p:cNvSpPr/>
          <p:nvPr/>
        </p:nvSpPr>
        <p:spPr>
          <a:xfrm>
            <a:off x="5687568" y="126187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Feature / Methodology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7516368" y="126187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Metric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8522208" y="126187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</a:rPr>
              <a:t>Key Finding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 Used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Technology stack used in the current implementation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34930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98448"/>
            <a:ext cx="73152" cy="17373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773936"/>
            <a:ext cx="3200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Python 3.12/3.13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Django 5.2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Django ORM &amp; migrations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07408" y="1298448"/>
            <a:ext cx="34930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298448"/>
            <a:ext cx="73152" cy="173736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Frontend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773936"/>
            <a:ext cx="3200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HTML5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Bootstrap 5 CSS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Custom CSS + JavaScript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174736" y="1298448"/>
            <a:ext cx="34930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1298448"/>
            <a:ext cx="73152" cy="1737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444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Database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7616" y="1773936"/>
            <a:ext cx="3200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SQLite (demo)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MySQL configuration provided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Relational models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40080" y="3447288"/>
            <a:ext cx="34930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447288"/>
            <a:ext cx="73152" cy="1737360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Documents &amp; QR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922776"/>
            <a:ext cx="3200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ReportLab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QRCode + Pillow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SHA-256 fingerprint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jsQR scanner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407408" y="3447288"/>
            <a:ext cx="34930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07408" y="3447288"/>
            <a:ext cx="73152" cy="1737360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Localization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90288" y="3922776"/>
            <a:ext cx="3200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Django language helper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Malayalam JSON catalogue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Client-side language.js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Saved user preference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174736" y="3447288"/>
            <a:ext cx="3493008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74736" y="3447288"/>
            <a:ext cx="73152" cy="17373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Messaging &amp; Tools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57616" y="3922776"/>
            <a:ext cx="320040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Traccar Android SMS Gateway / Twilio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CSV export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Waitress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Git / VS Code</a:t>
            </a:r>
            <a:endParaRPr lang="en-US" sz="106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&amp; Hardware Requirements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Development and demonstration environment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234440"/>
            <a:ext cx="73152" cy="45262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80744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Software Requirements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709928"/>
            <a:ext cx="5010912" cy="3922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Windows / Linux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Python 3.12+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Django 5.2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SQLite or MySQL 8+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Modern browser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VS Code / PyCharm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ReportLab, QRCode/Pillow, python-dotenv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Optional Traccar / Twilio SMS configuration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234440"/>
            <a:ext cx="73152" cy="452628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380744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Hardware Requirements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709928"/>
            <a:ext cx="5010912" cy="3922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Dual-core or better processor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4 GB RAM minimum (8 GB recommended)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1 GB free storage for development/demo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Internet connection for dependency setup and external SMS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Smartphone for QR scanning / SMS gateway demo (optional)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• Webcam not required for core project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3767328" y="5742432"/>
            <a:ext cx="4663440" cy="329184"/>
          </a:xfrm>
          <a:prstGeom prst="roundRect">
            <a:avLst>
              <a:gd name="adj" fmla="val 22222"/>
            </a:avLst>
          </a:prstGeom>
          <a:solidFill>
            <a:srgbClr val="EFFAF5"/>
          </a:solidFill>
          <a:ln w="12700">
            <a:solidFill>
              <a:srgbClr val="1FA97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5788152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A97A"/>
                </a:solidFill>
              </a:rPr>
              <a:t>Browser-based client — no Node.js build required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Overall flow: User → Frontend → Backend → Database / Services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20240" cy="2286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7780">
            <a:solidFill>
              <a:srgbClr val="2F6F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920240" cy="43891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93852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Users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87168"/>
            <a:ext cx="170078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Citizen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Official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Waste Collector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3472" y="2816352"/>
            <a:ext cx="256032" cy="329184"/>
          </a:xfrm>
          <a:prstGeom prst="chevron">
            <a:avLst/>
          </a:prstGeom>
          <a:solidFill>
            <a:srgbClr val="BCC9D7"/>
          </a:solidFill>
          <a:ln w="12700">
            <a:solidFill>
              <a:srgbClr val="BCC9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1828800"/>
            <a:ext cx="2011680" cy="2286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7780">
            <a:solidFill>
              <a:srgbClr val="139A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828800"/>
            <a:ext cx="2011680" cy="438912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1938528"/>
            <a:ext cx="1901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Presentation Layer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90088" y="2487168"/>
            <a:ext cx="179222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Django templates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Bootstrap / JS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EN ⇄ മലയാളം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65192" y="2816352"/>
            <a:ext cx="256032" cy="329184"/>
          </a:xfrm>
          <a:prstGeom prst="chevron">
            <a:avLst/>
          </a:prstGeom>
          <a:solidFill>
            <a:srgbClr val="BCC9D7"/>
          </a:solidFill>
          <a:ln w="12700">
            <a:solidFill>
              <a:srgbClr val="BCC9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1828800"/>
            <a:ext cx="2148840" cy="22860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7780">
            <a:solidFill>
              <a:srgbClr val="6C63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828800"/>
            <a:ext cx="214884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2664" y="19385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Application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67528" y="2487168"/>
            <a:ext cx="192938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Views + Forms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Permission checks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URL routing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9792" y="2816352"/>
            <a:ext cx="256032" cy="329184"/>
          </a:xfrm>
          <a:prstGeom prst="chevron">
            <a:avLst/>
          </a:prstGeom>
          <a:solidFill>
            <a:srgbClr val="BCC9D7"/>
          </a:solidFill>
          <a:ln w="12700">
            <a:solidFill>
              <a:srgbClr val="BCC9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828800"/>
            <a:ext cx="1965960" cy="228600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7780">
            <a:solidFill>
              <a:srgbClr val="1FA9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1828800"/>
            <a:ext cx="1965960" cy="438912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27264" y="1938528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Business Logic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82128" y="2487168"/>
            <a:ext cx="174650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Workflow 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Notifications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PDF / QR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Reports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811512" y="2816352"/>
            <a:ext cx="256032" cy="329184"/>
          </a:xfrm>
          <a:prstGeom prst="chevron">
            <a:avLst/>
          </a:prstGeom>
          <a:solidFill>
            <a:srgbClr val="BCC9D7"/>
          </a:solidFill>
          <a:ln w="12700">
            <a:solidFill>
              <a:srgbClr val="BCC9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828800"/>
            <a:ext cx="150876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7780">
            <a:solidFill>
              <a:srgbClr val="F4B6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0" y="1828800"/>
            <a:ext cx="1508760" cy="438912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13264" y="1938528"/>
            <a:ext cx="1399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/ External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168128" y="2487168"/>
            <a:ext cx="1289304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SQLite / MySQL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Private uploads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8212B"/>
                </a:solidFill>
              </a:rPr>
              <a:t>SMS provider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4754880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4754880"/>
            <a:ext cx="73152" cy="1024128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90118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Security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5230368"/>
            <a:ext cx="28620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Authentication • ownership checks • CSRF • private file access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526280" y="4754880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6280" y="4754880"/>
            <a:ext cx="73152" cy="102412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90118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Auditability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709160" y="5230368"/>
            <a:ext cx="28620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StatusUpdate history • actor • note • timestamp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8138160" y="4754880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138160" y="4754880"/>
            <a:ext cx="73152" cy="1024128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901184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Integration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21040" y="5230368"/>
            <a:ext cx="286207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QR verification • CSV • SMS outbox • language preference</a:t>
            </a:r>
            <a:endParaRPr lang="en-US" sz="106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FD Level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DFD Level 0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Design Diagrams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5CED8">
                <a:alpha val="14000"/>
              </a:srgbClr>
            </a:outerShdw>
          </a:effectLst>
        </p:spPr>
      </p:sp>
      <p:pic>
        <p:nvPicPr>
          <p:cNvPr id="6" name="Image 0" descr="DFD Level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091" y="1097280"/>
            <a:ext cx="9108202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 Case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Diagram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Design Diagrams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5CED8">
                <a:alpha val="14000"/>
              </a:srgbClr>
            </a:outerShdw>
          </a:effectLst>
        </p:spPr>
      </p:sp>
      <p:pic>
        <p:nvPicPr>
          <p:cNvPr id="9" name="Image 1" descr="Use Cas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312" y="1097280"/>
            <a:ext cx="3413760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ass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Diagram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Design Diagrams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5CED8">
                <a:alpha val="14000"/>
              </a:srgbClr>
            </a:outerShdw>
          </a:effectLst>
        </p:spPr>
      </p:sp>
      <p:pic>
        <p:nvPicPr>
          <p:cNvPr id="12" name="Image 2" descr="Class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64" y="1097280"/>
            <a:ext cx="3623256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e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Diagram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Design Diagrams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5CED8">
                <a:alpha val="14000"/>
              </a:srgbClr>
            </a:outerShdw>
          </a:effectLst>
        </p:spPr>
      </p:sp>
      <p:pic>
        <p:nvPicPr>
          <p:cNvPr id="15" name="Image 3" descr="Stat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097280"/>
            <a:ext cx="5120640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tivity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Diagram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Design Diagrams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5CED8">
                <a:alpha val="14000"/>
              </a:srgbClr>
            </a:outerShdw>
          </a:effectLst>
        </p:spPr>
      </p:sp>
      <p:pic>
        <p:nvPicPr>
          <p:cNvPr id="18" name="Image 4" descr="Activity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312" y="1097280"/>
            <a:ext cx="3413760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quence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Diagram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Design Diagrams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5CED8">
                <a:alpha val="14000"/>
              </a:srgbClr>
            </a:outerShdw>
          </a:effectLst>
        </p:spPr>
      </p:sp>
      <p:pic>
        <p:nvPicPr>
          <p:cNvPr id="21" name="Image 5" descr="Sequenc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097280"/>
            <a:ext cx="7680960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 Description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Major functional modules in the implemented application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704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170432"/>
            <a:ext cx="73152" cy="12984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167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Citizen Module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Register/login, profile, dashboard, request tracking, notifications and language preference.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172200" y="11704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170432"/>
            <a:ext cx="73152" cy="1298448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167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Certificate &amp; QR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16459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Apply for birth/death/residence/property/general certificates; approve, PDF generation, QR verification.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" y="27706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770632"/>
            <a:ext cx="73152" cy="1298448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169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Complaint Module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2461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Submit categorized civic complaints, follow status updates and resolution notes.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172200" y="27706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770632"/>
            <a:ext cx="73152" cy="1298448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9169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Waste Collection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32461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Request pickup, preferred date, admin scheduling, collector assignment and completion.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85800" y="43708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4370832"/>
            <a:ext cx="73152" cy="1298448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5171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Safety Alerts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48463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Official-issued alerts, ward targeting, safe-place instructions, notifications and optional SMS outbox.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172200" y="43708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4370832"/>
            <a:ext cx="73152" cy="12984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5171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Admin / Reports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48463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Request management, notice board, user administration, dashboard metrics and CSV export.</a:t>
            </a:r>
            <a:endParaRPr lang="en-US" sz="106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/ Methodology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Development phases and core backend algorithms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3504" y="114300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AF3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3350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A47"/>
                </a:solidFill>
              </a:rPr>
              <a:t>Requirements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65960" y="1307592"/>
            <a:ext cx="210312" cy="256032"/>
          </a:xfrm>
          <a:prstGeom prst="chevron">
            <a:avLst/>
          </a:prstGeom>
          <a:solidFill>
            <a:srgbClr val="CBD5D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31136" y="114300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AF3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76856" y="13350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A47"/>
                </a:solidFill>
              </a:rPr>
              <a:t>Design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93592" y="1307592"/>
            <a:ext cx="210312" cy="256032"/>
          </a:xfrm>
          <a:prstGeom prst="chevron">
            <a:avLst/>
          </a:prstGeom>
          <a:solidFill>
            <a:srgbClr val="CBD5D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8768" y="114300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AF3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488" y="13350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A47"/>
                </a:solidFill>
              </a:rPr>
              <a:t>Database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21224" y="1307592"/>
            <a:ext cx="210312" cy="256032"/>
          </a:xfrm>
          <a:prstGeom prst="chevron">
            <a:avLst/>
          </a:prstGeom>
          <a:solidFill>
            <a:srgbClr val="CBD5D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14300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AF3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3350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A47"/>
                </a:solidFill>
              </a:rPr>
              <a:t>UI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48856" y="1307592"/>
            <a:ext cx="210312" cy="256032"/>
          </a:xfrm>
          <a:prstGeom prst="chevron">
            <a:avLst/>
          </a:prstGeom>
          <a:solidFill>
            <a:srgbClr val="CBD5D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4032" y="114300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AF3FF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13350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A47"/>
                </a:solidFill>
              </a:rPr>
              <a:t>Development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76488" y="1307592"/>
            <a:ext cx="210312" cy="256032"/>
          </a:xfrm>
          <a:prstGeom prst="chevron">
            <a:avLst/>
          </a:prstGeom>
          <a:solidFill>
            <a:srgbClr val="CBD5D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41664" y="114300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9F8F3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87384" y="13350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A47"/>
                </a:solidFill>
              </a:rPr>
              <a:t>Testing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104120" y="1307592"/>
            <a:ext cx="210312" cy="256032"/>
          </a:xfrm>
          <a:prstGeom prst="chevron">
            <a:avLst/>
          </a:prstGeom>
          <a:solidFill>
            <a:srgbClr val="CBD5DF"/>
          </a:solidFill>
          <a:ln w="12700">
            <a:solidFill>
              <a:srgbClr val="CBD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69296" y="114300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E9F8F3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15016" y="13350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2A47"/>
                </a:solidFill>
              </a:rPr>
              <a:t>Deployment Prep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214884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2148840"/>
            <a:ext cx="73152" cy="30632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29514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A. Request Transition Algorithm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2624328"/>
            <a:ext cx="3227832" cy="2459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1. Read authenticated actor and target request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2. Re-check role and allowed transition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3. Validate action-specific data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4. Update request inside transaction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5. Write StatusUpdate audit record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6. Create recipient notifications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7. Commit / rollback atomically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4370832" y="214884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70832" y="2148840"/>
            <a:ext cx="73152" cy="3063240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53712" y="229514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B. Certificate Verification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53712" y="2624328"/>
            <a:ext cx="3227832" cy="2459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1. Approve request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2. Generate fixed PDF + QR token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3. Store SHA-256 fingerprint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4. Public verification checks current status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5. Uploaded PDF fingerprint is compared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6. Revocation immediately invalidates verification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8010144" y="214884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10144" y="2148840"/>
            <a:ext cx="73152" cy="306324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229514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C. Language Selection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193024" y="2624328"/>
            <a:ext cx="3227832" cy="2459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1. User chooses English or Malayalam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2. Preference stored in Profile.language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3. Middleware/helper activates language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4. Translation catalogue renders UI strings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5. language.js updates client-side labels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6. Citizen-entered data remains unchanged</a:t>
            </a:r>
            <a:endParaRPr lang="en-US" sz="106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How the project is organized in code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657600" cy="4709160"/>
          </a:xfrm>
          <a:prstGeom prst="roundRect">
            <a:avLst>
              <a:gd name="adj" fmla="val 1250"/>
            </a:avLst>
          </a:prstGeom>
          <a:solidFill>
            <a:srgbClr val="F2F6F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</a:rPr>
              <a:t>Key project files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971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portal/models.py        → persistent entities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portal/forms.py         → validated input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portal/views.py         → role-protected pages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portal/services.py      → workflow transitions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portal/certificates.py  → PDF + QR generation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portal/language.py      → localization helper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portal/sms.py           → SMS outbox/provider logic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             → server-rendered UI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821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static/js/              → QR + language + alerts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1143000"/>
            <a:ext cx="32004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143000"/>
            <a:ext cx="73152" cy="12984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893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Database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618488"/>
            <a:ext cx="290779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Profile, ServiceRequest, StatusUpdate, Notification, Announcement, CertificateDocument, SafetyAlert / Recipient / SMS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065008" y="1143000"/>
            <a:ext cx="32004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143000"/>
            <a:ext cx="73152" cy="12984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289304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1618488"/>
            <a:ext cx="290779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Django auth, ORM, transactions, validation, ownership checks and workflow state rules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572000" y="2724912"/>
            <a:ext cx="32004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2724912"/>
            <a:ext cx="73152" cy="1298448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7121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Frontend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290779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Responsive templates, Bootstrap, custom CSS/JS, QR scanner and bilingual interface controls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065008" y="2724912"/>
            <a:ext cx="32004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5008" y="2724912"/>
            <a:ext cx="73152" cy="1298448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7888" y="2871216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Documents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47888" y="3200400"/>
            <a:ext cx="290779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Private uploads, fixed certificate PDF, SHA-256 fingerprint and revocation-aware verification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4572000" y="4315968"/>
            <a:ext cx="32004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315968"/>
            <a:ext cx="73152" cy="1298448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446227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Messaging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4791456"/>
            <a:ext cx="290779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In-app notifications + safety warnings + optional Traccar/Twilio SMS outbox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8065008" y="4315968"/>
            <a:ext cx="32004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65008" y="4315968"/>
            <a:ext cx="73152" cy="1298448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446227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Reports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7888" y="4791456"/>
            <a:ext cx="290779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Administrator metrics, searchable requests and CSV export with spreadsheet-formula protection</a:t>
            </a:r>
            <a:endParaRPr lang="en-US" sz="106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/ Analysis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Observed validation results from the updated project build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25603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AD4DF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399032"/>
            <a:ext cx="384048" cy="384048"/>
          </a:xfrm>
          <a:prstGeom prst="ellipse">
            <a:avLst/>
          </a:prstGeom>
          <a:solidFill>
            <a:srgbClr val="1FA97A">
              <a:alpha val="90000"/>
            </a:srgbClr>
          </a:solidFill>
          <a:ln w="12700">
            <a:solidFill>
              <a:srgbClr val="1FA97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344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</a:rPr>
              <a:t>79 / 79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50392" y="1929384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Automated portal tests passed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234440"/>
            <a:ext cx="25603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AD4DF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1399032"/>
            <a:ext cx="384048" cy="384048"/>
          </a:xfrm>
          <a:prstGeom prst="ellipse">
            <a:avLst/>
          </a:prstGeom>
          <a:solidFill>
            <a:srgbClr val="2F6FED">
              <a:alpha val="90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344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</a:rPr>
              <a:t>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93592" y="1929384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Django system-check issues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25603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AD4DF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36792" y="1399032"/>
            <a:ext cx="384048" cy="384048"/>
          </a:xfrm>
          <a:prstGeom prst="ellipse">
            <a:avLst/>
          </a:prstGeom>
          <a:solidFill>
            <a:srgbClr val="6C63FF">
              <a:alpha val="90000"/>
            </a:srgbClr>
          </a:solidFill>
          <a:ln w="12700">
            <a:solidFill>
              <a:srgbClr val="6C63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344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</a:rPr>
              <a:t>1 page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36792" y="1929384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A4 birth/death certificate output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1234440"/>
            <a:ext cx="256032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2700" dist="50800" dir="2700000" algn="bl" rotWithShape="0">
              <a:srgbClr val="CAD4DF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9992" y="1399032"/>
            <a:ext cx="384048" cy="384048"/>
          </a:xfrm>
          <a:prstGeom prst="ellipse">
            <a:avLst/>
          </a:prstGeom>
          <a:solidFill>
            <a:srgbClr val="139A7E">
              <a:alpha val="90000"/>
            </a:srgbClr>
          </a:solidFill>
          <a:ln w="12700">
            <a:solidFill>
              <a:srgbClr val="139A7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55480" y="13441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</a:rPr>
              <a:t>200 OK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079992" y="1929384"/>
            <a:ext cx="22311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Admin &amp; collector pages validated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297180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2971800"/>
            <a:ext cx="73152" cy="21488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11810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Workflow validation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3447288"/>
            <a:ext cx="3182112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Certificate submission → approval → PDF → QR verification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Complaint submission → progress → resolution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Waste request → schedule → assignment → collection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370832" y="297180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70832" y="2971800"/>
            <a:ext cx="73152" cy="2148840"/>
          </a:xfrm>
          <a:prstGeom prst="rect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311810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Security / integrity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53712" y="3447288"/>
            <a:ext cx="3182112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Role restrictions • private documents • CSRF rejection • invalid transition checks • revocation • CSV formula escaping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8055864" y="297180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55864" y="2971800"/>
            <a:ext cx="73152" cy="214884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311810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UI / integration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38744" y="3447288"/>
            <a:ext cx="3182112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Mobile viewport checked with no page-level overflow • QR scanner tests • Malayalam preference persistence • SMS provider tests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3246120" y="5623560"/>
            <a:ext cx="580644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0E2A47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9272" y="5669280"/>
            <a:ext cx="5660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E2A47"/>
                </a:solidFill>
              </a:rPr>
              <a:t>Validation environment: Python 3.12.14 + Django 5.2.17 + SQLite</a:t>
            </a:r>
            <a:endParaRPr lang="en-US" sz="103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Screenshots / Output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6" name="Image 0" descr="Ho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04" y="1097280"/>
            <a:ext cx="8189576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tizen 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Citizen Dashboard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Screenshots / Output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9" name="Image 1" descr="Citize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04" y="1097280"/>
            <a:ext cx="8189576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min 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 Dashboard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Screenshots / Output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12" name="Image 2" descr="Admi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04" y="1097280"/>
            <a:ext cx="8189576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rtificate Appli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Certificate Application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Screenshots / Output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15" name="Image 3" descr="Certificate Applic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04" y="1097280"/>
            <a:ext cx="8189576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R Verifi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QR Verification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Screenshots / Output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18" name="Image 4" descr="QR Verific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04" y="1097280"/>
            <a:ext cx="8189576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fety Ale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Alerts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Screenshots / Output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005840"/>
            <a:ext cx="10972800" cy="5303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21" name="Image 5" descr="Safety Aler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404" y="1097280"/>
            <a:ext cx="8189576" cy="5120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Comparison with Existing System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Observed differences between manual workflow and the proposed portal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698480" cy="479145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Existing System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Proposed System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 submission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Office visit / paper forms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Online role-based forms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 tracking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Phone / repeated visit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Live status + history + notifications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Certificate verification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office confirmation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QR + database validity + PDF fingerprint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Waste collection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Informal request / manual assignment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Preferred date + schedule + collector assignment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Safety communication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Notice / ad-hoc calls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Targeted in-app warnings + optional SMS outbox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Language access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manual assistance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English ⇄ Malayalam switch for citizen / collector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counting / spreadsheets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Dashboard metrics + CSV export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371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26080" y="13716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Existing System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0" y="137160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Proposed System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Functional, integration, security and regression validation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744200" cy="37947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 Case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Result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Actual Result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 login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User reaches correct dashboard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Successful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Cross-user request access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Unauthorized record is blocked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Blocked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Certificate approval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PDF + QR produced once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Generated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Altered PDF verification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Fingerprint mismatch reported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Mismatch detected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Waste scheduling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collector + valid date required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Language preference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English / Malayalam choice persists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Persisted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1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8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1280160"/>
            <a:ext cx="10744200" cy="5029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173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Case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83280" y="14173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Expected Result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6640" y="141732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Actual Result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12680" y="141732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Status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0" y="5440680"/>
            <a:ext cx="4526280" cy="329184"/>
          </a:xfrm>
          <a:prstGeom prst="roundRect">
            <a:avLst>
              <a:gd name="adj" fmla="val 22222"/>
            </a:avLst>
          </a:prstGeom>
          <a:solidFill>
            <a:srgbClr val="E9F8F3"/>
          </a:solidFill>
          <a:ln w="12700">
            <a:solidFill>
              <a:srgbClr val="1FA97A">
                <a:alpha val="7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13632" y="5486400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FA97A"/>
                </a:solidFill>
              </a:rPr>
              <a:t>manage.py test portal → 79 tests passed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Video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70446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Short project walkthrough for the final presentation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 rot="5400000">
            <a:off x="5650992" y="2971800"/>
            <a:ext cx="301752" cy="384048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58887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INSERT / EMBED 2–3 MINUTE PROJECT DEMO VIDEO HERE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pic>
        <p:nvPicPr>
          <p:cNvPr id="11" name="smart-grama-demo-30-seconds">
            <a:hlinkClick r:id="" action="ppaction://media"/>
            <a:extLst>
              <a:ext uri="{FF2B5EF4-FFF2-40B4-BE49-F238E27FC236}">
                <a16:creationId xmlns:a16="http://schemas.microsoft.com/office/drawing/2014/main" id="{F258D7CA-5D1C-240E-87CD-0A7CBA22CC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91886" y="1041111"/>
            <a:ext cx="9999306" cy="5624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Benefits provided by the proposed system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280160"/>
            <a:ext cx="34564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280160"/>
            <a:ext cx="73152" cy="17373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264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Unified portal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1755648"/>
            <a:ext cx="316382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Multiple citizen services share one account and one tracking model.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43984" y="1280160"/>
            <a:ext cx="34564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3984" y="1280160"/>
            <a:ext cx="73152" cy="173736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4264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Transparency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26864" y="1755648"/>
            <a:ext cx="316382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References, history and notifications make request progress visible.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174736" y="1280160"/>
            <a:ext cx="34564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1280160"/>
            <a:ext cx="73152" cy="17373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4264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Role separation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57616" y="1755648"/>
            <a:ext cx="316382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Backend permission checks reduce unauthorized actions.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713232" y="3429000"/>
            <a:ext cx="34564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429000"/>
            <a:ext cx="73152" cy="1737360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357530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Verified output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6112" y="3904488"/>
            <a:ext cx="316382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QR and PDF fingerprinting provide demonstration-level integrity checks.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443984" y="3429000"/>
            <a:ext cx="34564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3984" y="3429000"/>
            <a:ext cx="73152" cy="1737360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357530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Field coordination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26864" y="3904488"/>
            <a:ext cx="316382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Waste requests can be scheduled and assigned to collectors.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8174736" y="3429000"/>
            <a:ext cx="3456432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74736" y="3429000"/>
            <a:ext cx="73152" cy="173736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7616" y="357530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Inclusive interface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57616" y="3904488"/>
            <a:ext cx="3163824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English / Malayalam switching improves local usability.</a:t>
            </a:r>
            <a:endParaRPr lang="en-US" sz="106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Current boundaries of the academic prototype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" y="1316736"/>
            <a:ext cx="100584" cy="100584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10332720" cy="7360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8212B"/>
                </a:solidFill>
              </a:rPr>
              <a:t>No connection to official Panchayat, civil-registration or identity databases.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2071116"/>
            <a:ext cx="100584" cy="100584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88820"/>
            <a:ext cx="10332720" cy="7360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8212B"/>
                </a:solidFill>
              </a:rPr>
              <a:t>Generated certificates are academic demonstration outputs, not legally signed government documents.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68680" y="2825496"/>
            <a:ext cx="100584" cy="100584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743200"/>
            <a:ext cx="10332720" cy="7360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8212B"/>
                </a:solidFill>
              </a:rPr>
              <a:t>SQLite is the validated local demo database; live MySQL integration was not tested in this environment.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" y="3579876"/>
            <a:ext cx="100584" cy="100584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497580"/>
            <a:ext cx="10332720" cy="7360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8212B"/>
                </a:solidFill>
              </a:rPr>
              <a:t>SMS delivery depends on external provider / gateway setup and cannot be guaranteed by the portal alone.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68680" y="4334256"/>
            <a:ext cx="100584" cy="100584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251960"/>
            <a:ext cx="10332720" cy="7360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8212B"/>
                </a:solidFill>
              </a:rPr>
              <a:t>Storage encryption at rest, production monitoring, backups and rate limiting require deployment hardening.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68680" y="5088636"/>
            <a:ext cx="100584" cy="100584"/>
          </a:xfrm>
          <a:prstGeom prst="ellipse">
            <a:avLst/>
          </a:prstGeom>
          <a:solidFill>
            <a:srgbClr val="D95C5C"/>
          </a:solidFill>
          <a:ln w="12700">
            <a:solidFill>
              <a:srgbClr val="D9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006340"/>
            <a:ext cx="10332720" cy="7360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8212B"/>
                </a:solidFill>
              </a:rPr>
              <a:t>Malayalam localization currently focuses on citizen / collector interfaces rather than every administrative page.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246120" y="5779008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FFF1F1"/>
          </a:solidFill>
          <a:ln w="12700">
            <a:solidFill>
              <a:srgbClr val="D95C5C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5824728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D95C5C"/>
                </a:solidFill>
              </a:rPr>
              <a:t>These limitations define the next production-readiness steps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What the completed project demonstrates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28016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280160"/>
            <a:ext cx="73152" cy="42062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2646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1. Complete Service Workflow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755648"/>
            <a:ext cx="3136392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The project goes beyond static forms: requests move through validated states, generate audit history, notify users and support role-specific actions.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389120" y="128016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280160"/>
            <a:ext cx="73152" cy="4206240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2646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2. Practical e-Governance Prototype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3136392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Certificates, complaints, waste collection, reports, notice board and safety alerts are integrated within one Django application and relational data model.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01000" y="1280160"/>
            <a:ext cx="3429000" cy="42062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1280160"/>
            <a:ext cx="73152" cy="4206240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42646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3. Trust + Accessibility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3880" y="1755648"/>
            <a:ext cx="3136392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QR verification, private uploads, role checks, bilingual citizen interfaces and automated tests improve traceability, privacy and usability for an academic prototype.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2514600" y="5806440"/>
            <a:ext cx="7132320" cy="329184"/>
          </a:xfrm>
          <a:prstGeom prst="roundRect">
            <a:avLst>
              <a:gd name="adj" fmla="val 22222"/>
            </a:avLst>
          </a:prstGeom>
          <a:solidFill>
            <a:srgbClr val="EEF2F6"/>
          </a:solidFill>
          <a:ln w="12700">
            <a:solidFill>
              <a:srgbClr val="0E2A47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58521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0E2A47"/>
                </a:solidFill>
              </a:rPr>
              <a:t>Result: a working, extensible foundation for citizen-service digitization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Scope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Recommended enhancements beyond the current prototype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1704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170432"/>
            <a:ext cx="73152" cy="1298448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167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Government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Connect to approved identity, registry and Panchayat back-office systems.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172200" y="11704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170432"/>
            <a:ext cx="73152" cy="1298448"/>
          </a:xfrm>
          <a:prstGeom prst="rect">
            <a:avLst/>
          </a:prstGeom>
          <a:solidFill>
            <a:srgbClr val="1FA97A"/>
          </a:solidFill>
          <a:ln w="12700">
            <a:solidFill>
              <a:srgbClr val="1FA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167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Digital signatures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16459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Use legally recognized signing and timestamping for issued certificates.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" y="27706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770632"/>
            <a:ext cx="73152" cy="1298448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9169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Full localization + voice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32461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Extend Malayalam to official pages and add text-to-speech / voice assistance.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172200" y="27706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770632"/>
            <a:ext cx="73152" cy="129844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9169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Production infrastructure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32461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HTTPS, server-grade DB, secure object storage, backups, monitoring and rate limiting.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85800" y="43708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4370832"/>
            <a:ext cx="73152" cy="1298448"/>
          </a:xfrm>
          <a:prstGeom prst="rect">
            <a:avLst/>
          </a:prstGeom>
          <a:solidFill>
            <a:srgbClr val="F4B63E"/>
          </a:solidFill>
          <a:ln w="12700">
            <a:solidFill>
              <a:srgbClr val="F4B6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5171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Payments &amp; notifications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48463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Add authorized payment gateway, email / push notifications and delivery tracking.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172200" y="4370832"/>
            <a:ext cx="516636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blurRad="15240" dist="50800" dir="2700000" algn="bl" rotWithShape="0">
              <a:srgbClr val="CAD4DF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4370832"/>
            <a:ext cx="73152" cy="1298448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51713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</a:rPr>
              <a:t>Intelligent routing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4846320"/>
            <a:ext cx="4873752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8212B"/>
                </a:solidFill>
              </a:rPr>
              <a:t>Explore carefully evaluated AI assistance for complaint classification and prioritization.</a:t>
            </a:r>
            <a:endParaRPr lang="en-US" sz="106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292608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12648" y="850392"/>
            <a:ext cx="960120" cy="0"/>
          </a:xfrm>
          <a:prstGeom prst="line">
            <a:avLst/>
          </a:prstGeom>
          <a:noFill/>
          <a:ln w="38100">
            <a:solidFill>
              <a:srgbClr val="139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9072" y="68580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17180"/>
                </a:solidFill>
              </a:rPr>
              <a:t>Selected sources — IEEE-style presentation format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170432"/>
            <a:ext cx="10698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8212B"/>
                </a:solidFill>
              </a:rPr>
              <a:t>[1] R. Dhamale and V. Patil, “Smart Governance in Rural India: Designing an E-Gram Panchayat System for Efficient Public Service Delivery,” 2025.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10515600" cy="0"/>
          </a:xfrm>
          <a:prstGeom prst="line">
            <a:avLst/>
          </a:prstGeom>
          <a:noFill/>
          <a:ln w="8890">
            <a:solidFill>
              <a:srgbClr val="E2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37944"/>
            <a:ext cx="10698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8212B"/>
                </a:solidFill>
              </a:rPr>
              <a:t>[2] M. Thorat et al., “E-Gram Panchayats: Enhancing Accountability and Transparency in Rural Administration,” 2023.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777240" y="2404872"/>
            <a:ext cx="10515600" cy="0"/>
          </a:xfrm>
          <a:prstGeom prst="line">
            <a:avLst/>
          </a:prstGeom>
          <a:noFill/>
          <a:ln w="8890">
            <a:solidFill>
              <a:srgbClr val="E2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05456"/>
            <a:ext cx="10698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8212B"/>
                </a:solidFill>
              </a:rPr>
              <a:t>[3] S. N. Fatmi and M. Swalehin, “Adoption of E-Governance Services among Rural People: An Assessment Study of Uttar Pradesh,” Journal of Exclusion Studies, vol. 12, no. 2, pp. 163–174, 2022.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77240" y="3072384"/>
            <a:ext cx="10515600" cy="0"/>
          </a:xfrm>
          <a:prstGeom prst="line">
            <a:avLst/>
          </a:prstGeom>
          <a:noFill/>
          <a:ln w="8890">
            <a:solidFill>
              <a:srgbClr val="E2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72968"/>
            <a:ext cx="10698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8212B"/>
                </a:solidFill>
              </a:rPr>
              <a:t>[4] A. K. Thottunkel and S. V. Kuppathanath, “ICT-based Reforms in Local Government Decision-making in the Gram Panchayats of Kerala,” 2015.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77240" y="3739896"/>
            <a:ext cx="10515600" cy="0"/>
          </a:xfrm>
          <a:prstGeom prst="line">
            <a:avLst/>
          </a:prstGeom>
          <a:noFill/>
          <a:ln w="8890">
            <a:solidFill>
              <a:srgbClr val="E2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8212B"/>
                </a:solidFill>
              </a:rPr>
              <a:t>[5] NIST, “Role-Based Access Control for the Web,” 1998.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77240" y="4407408"/>
            <a:ext cx="10515600" cy="0"/>
          </a:xfrm>
          <a:prstGeom prst="line">
            <a:avLst/>
          </a:prstGeom>
          <a:noFill/>
          <a:ln w="8890">
            <a:solidFill>
              <a:srgbClr val="E2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07992"/>
            <a:ext cx="10698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8212B"/>
                </a:solidFill>
              </a:rPr>
              <a:t>[6] Ministry of Panchayati Raj, Government of India, “e-GramSwaraj — official project information and architecture.”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777240" y="5074920"/>
            <a:ext cx="10515600" cy="0"/>
          </a:xfrm>
          <a:prstGeom prst="line">
            <a:avLst/>
          </a:prstGeom>
          <a:noFill/>
          <a:ln w="8890">
            <a:solidFill>
              <a:srgbClr val="E2E8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75504"/>
            <a:ext cx="10698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8212B"/>
                </a:solidFill>
              </a:rPr>
              <a:t>[7] Django Software Foundation, “Django Documentation — Authentication, ORM, Forms, CSRF Protection and File Uploads.”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39A7E"/>
          </a:solidFill>
          <a:ln w="12700">
            <a:solidFill>
              <a:srgbClr val="139A7E"/>
            </a:solidFill>
            <a:prstDash val="solid"/>
          </a:ln>
        </p:spPr>
      </p:sp>
      <p:pic>
        <p:nvPicPr>
          <p:cNvPr id="3" name="Image 0" descr="/mnt/data/report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85460"/>
            <a:ext cx="1691640" cy="1052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24028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743200" y="318211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E8DF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749040" y="3913632"/>
            <a:ext cx="4709160" cy="0"/>
          </a:xfrm>
          <a:prstGeom prst="line">
            <a:avLst/>
          </a:prstGeom>
          <a:noFill/>
          <a:ln w="15240">
            <a:solidFill>
              <a:srgbClr val="5A78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17520" y="418795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ABIN MATHEW  •  MLM25MCA-2005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880360" y="46268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2D4"/>
                </a:solidFill>
              </a:rPr>
              <a:t>Smart Digital Grama Panchayat Services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5230368"/>
            <a:ext cx="2606040" cy="329184"/>
          </a:xfrm>
          <a:prstGeom prst="roundRect">
            <a:avLst>
              <a:gd name="adj" fmla="val 22222"/>
            </a:avLst>
          </a:prstGeom>
          <a:solidFill>
            <a:srgbClr val="143E52"/>
          </a:solidFill>
          <a:ln w="12700">
            <a:solidFill>
              <a:srgbClr val="139A7E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73752" y="5276088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39A7E"/>
                </a:solidFill>
              </a:rPr>
              <a:t>English ⇄ മലയാളം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2666</Words>
  <Application>Microsoft Office PowerPoint</Application>
  <PresentationFormat>Widescreen</PresentationFormat>
  <Paragraphs>526</Paragraphs>
  <Slides>37</Slides>
  <Notes>25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Mangalam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Digital Grama Panchayat Services</dc:title>
  <dc:subject>MCA Mini Project Final Presentation</dc:subject>
  <dc:creator>Abin Mathew</dc:creator>
  <cp:lastModifiedBy>Abin Mathew</cp:lastModifiedBy>
  <cp:revision>3</cp:revision>
  <dcterms:created xsi:type="dcterms:W3CDTF">2026-10-06T06:39:04Z</dcterms:created>
  <dcterms:modified xsi:type="dcterms:W3CDTF">2026-10-09T06:39:21Z</dcterms:modified>
</cp:coreProperties>
</file>